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9" r:id="rId3"/>
    <p:sldId id="265" r:id="rId4"/>
    <p:sldId id="257" r:id="rId5"/>
    <p:sldId id="261" r:id="rId6"/>
    <p:sldId id="263" r:id="rId7"/>
    <p:sldId id="264" r:id="rId8"/>
    <p:sldId id="260" r:id="rId9"/>
    <p:sldId id="262" r:id="rId10"/>
    <p:sldId id="266" r:id="rId11"/>
    <p:sldId id="267" r:id="rId12"/>
    <p:sldId id="268" r:id="rId13"/>
    <p:sldId id="269" r:id="rId14"/>
    <p:sldId id="270" r:id="rId15"/>
    <p:sldId id="273" r:id="rId16"/>
    <p:sldId id="277" r:id="rId17"/>
    <p:sldId id="271" r:id="rId18"/>
    <p:sldId id="272" r:id="rId19"/>
    <p:sldId id="280" r:id="rId20"/>
    <p:sldId id="274" r:id="rId21"/>
    <p:sldId id="275" r:id="rId22"/>
    <p:sldId id="278" r:id="rId23"/>
    <p:sldId id="279" r:id="rId24"/>
    <p:sldId id="276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0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24BEBF-0D94-4918-A0D3-DAA885190FAB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86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8E14EE9-6522-4661-A8C9-44EFCFDB6652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FA1E39-7C05-4BE9-BA43-005987B55A7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C5F47-461C-4ABA-BF26-4F1797AEF454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F31DA7-50E9-48E1-9EC0-626C030DBBF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45A08-9973-4949-A235-8A536099FB2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9D5C8-570F-4B35-BBF8-ADBE9631AA7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F3E66-6530-404C-A64A-EDEDE134C3F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836F7D-1A12-43E3-8E22-F48395A1711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FB85FE-51D8-48CA-AC6B-BD4B3B712B8D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E5CAB-37A7-4071-A694-981BDCBD01D1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0CFC30-89CF-4EF2-BC9C-63B43FEAD81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5F2B3A-6399-4F63-8A8D-6F268CEF2F2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E52B72B-959F-4020-8D42-58AEF0673837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1470025"/>
          </a:xfrm>
        </p:spPr>
        <p:txBody>
          <a:bodyPr/>
          <a:lstStyle/>
          <a:p>
            <a:r>
              <a:rPr lang="en-US" i="1"/>
              <a:t>Using Progress To Update </a:t>
            </a:r>
            <a:br>
              <a:rPr lang="en-US" i="1"/>
            </a:br>
            <a:r>
              <a:rPr lang="en-US" i="1"/>
              <a:t>Excel Spreadsheets</a:t>
            </a:r>
            <a:r>
              <a:rPr lang="en-US"/>
              <a:t> 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209800" y="4800600"/>
            <a:ext cx="449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/>
              <a:t>A Case Study</a:t>
            </a:r>
          </a:p>
        </p:txBody>
      </p:sp>
      <p:pic>
        <p:nvPicPr>
          <p:cNvPr id="2053" name="Picture 5" descr="MCj0404273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2590800"/>
            <a:ext cx="1654175" cy="1841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Am I?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Craig Pollatz</a:t>
            </a:r>
          </a:p>
          <a:p>
            <a:r>
              <a:rPr lang="en-US"/>
              <a:t>MIS Programmer/Manufacturing Systems Manager</a:t>
            </a:r>
          </a:p>
          <a:p>
            <a:r>
              <a:rPr lang="en-US"/>
              <a:t>Help desk</a:t>
            </a:r>
          </a:p>
          <a:p>
            <a:r>
              <a:rPr lang="en-US"/>
              <a:t>Customize ERP system reports</a:t>
            </a:r>
          </a:p>
          <a:p>
            <a:r>
              <a:rPr lang="en-US"/>
              <a:t>Programming for over 25 years</a:t>
            </a:r>
          </a:p>
          <a:p>
            <a:r>
              <a:rPr lang="en-US"/>
              <a:t>Progress for over 10 years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924800" cy="3124200"/>
          </a:xfrm>
        </p:spPr>
        <p:txBody>
          <a:bodyPr/>
          <a:lstStyle/>
          <a:p>
            <a:r>
              <a:rPr lang="en-US"/>
              <a:t>How many departments use spreadsheets for data reporting and storage???</a:t>
            </a:r>
          </a:p>
        </p:txBody>
      </p:sp>
      <p:pic>
        <p:nvPicPr>
          <p:cNvPr id="11269" name="Picture 5" descr="MPj0438779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352800"/>
            <a:ext cx="3581400" cy="2984500"/>
          </a:xfrm>
          <a:prstGeom prst="rect">
            <a:avLst/>
          </a:prstGeom>
          <a:noFill/>
        </p:spPr>
      </p:pic>
      <p:pic>
        <p:nvPicPr>
          <p:cNvPr id="11270" name="Picture 6" descr="MPj0387953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3352800"/>
            <a:ext cx="3886200" cy="2936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Requests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report</a:t>
            </a:r>
          </a:p>
          <a:p>
            <a:r>
              <a:rPr lang="en-US"/>
              <a:t>New graph</a:t>
            </a:r>
          </a:p>
          <a:p>
            <a:r>
              <a:rPr lang="en-US"/>
              <a:t>Ever spend lots of time creating and formatting a report only to have the user print it and retype the numbers into a spreadsheet?</a:t>
            </a:r>
          </a:p>
          <a:p>
            <a:endParaRPr lang="en-US"/>
          </a:p>
        </p:txBody>
      </p:sp>
      <p:pic>
        <p:nvPicPr>
          <p:cNvPr id="3076" name="Picture 4" descr="MCj0412766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2525" y="4419600"/>
            <a:ext cx="1698625" cy="21796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r>
              <a:rPr lang="en-US" sz="2800"/>
              <a:t>No single report had all the data needed for a weekly summary</a:t>
            </a:r>
          </a:p>
          <a:p>
            <a:r>
              <a:rPr lang="en-US" sz="2800"/>
              <a:t>Solution: Create a spreadsheet</a:t>
            </a:r>
          </a:p>
          <a:p>
            <a:endParaRPr lang="en-US" sz="2800"/>
          </a:p>
          <a:p>
            <a:r>
              <a:rPr lang="en-US" sz="2800"/>
              <a:t>It took several hours to update</a:t>
            </a:r>
          </a:p>
          <a:p>
            <a:r>
              <a:rPr lang="en-US" sz="2800"/>
              <a:t>Solution: Delegate it to a programmer</a:t>
            </a:r>
          </a:p>
        </p:txBody>
      </p:sp>
      <p:pic>
        <p:nvPicPr>
          <p:cNvPr id="7173" name="Picture 5" descr="MCj0129886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3657600"/>
            <a:ext cx="2743200" cy="2743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Spreadsheets updated weekly</a:t>
            </a:r>
          </a:p>
          <a:p>
            <a:r>
              <a:rPr lang="en-US"/>
              <a:t>Input for 3 divisions from 3 spreadsheets, 2 QAD reports, 5 CorVu reports.</a:t>
            </a:r>
          </a:p>
          <a:p>
            <a:r>
              <a:rPr lang="en-US"/>
              <a:t>1-2 hours just to run reports</a:t>
            </a:r>
          </a:p>
          <a:p>
            <a:r>
              <a:rPr lang="en-US"/>
              <a:t>4-6 hours to manually input data</a:t>
            </a:r>
          </a:p>
        </p:txBody>
      </p:sp>
      <p:pic>
        <p:nvPicPr>
          <p:cNvPr id="9223" name="Picture 7" descr="MCj0157017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4648200"/>
            <a:ext cx="1665288" cy="1819275"/>
          </a:xfrm>
          <a:prstGeom prst="rect">
            <a:avLst/>
          </a:prstGeom>
          <a:noFill/>
        </p:spPr>
      </p:pic>
      <p:pic>
        <p:nvPicPr>
          <p:cNvPr id="9229" name="Picture 13" descr="MCBD07157_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4800600"/>
            <a:ext cx="1835150" cy="1562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Intermediate Solutions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Have IT run reports</a:t>
            </a:r>
          </a:p>
          <a:p>
            <a:r>
              <a:rPr lang="en-US"/>
              <a:t>IT automates running of reports</a:t>
            </a:r>
          </a:p>
          <a:p>
            <a:r>
              <a:rPr lang="en-US"/>
              <a:t>Have IT input data</a:t>
            </a:r>
          </a:p>
          <a:p>
            <a:r>
              <a:rPr lang="en-US"/>
              <a:t>IT automates data input</a:t>
            </a:r>
          </a:p>
          <a:p>
            <a:r>
              <a:rPr lang="en-US"/>
              <a:t>Current process takes 15-30 minutes</a:t>
            </a:r>
          </a:p>
        </p:txBody>
      </p:sp>
      <p:pic>
        <p:nvPicPr>
          <p:cNvPr id="10250" name="Picture 10" descr="MCj0233317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4572000"/>
            <a:ext cx="1943100" cy="1981200"/>
          </a:xfrm>
          <a:prstGeom prst="rect">
            <a:avLst/>
          </a:prstGeom>
          <a:noFill/>
        </p:spPr>
      </p:pic>
      <p:pic>
        <p:nvPicPr>
          <p:cNvPr id="10259" name="Picture 19" descr="MCj037095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4572000"/>
            <a:ext cx="1506538" cy="1824038"/>
          </a:xfrm>
          <a:prstGeom prst="rect">
            <a:avLst/>
          </a:prstGeom>
          <a:noFill/>
        </p:spPr>
      </p:pic>
      <p:pic>
        <p:nvPicPr>
          <p:cNvPr id="10261" name="Picture 21" descr="MCBS01597_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0" y="4648200"/>
            <a:ext cx="1836738" cy="18780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Parts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/>
              <a:t>Initialization</a:t>
            </a:r>
          </a:p>
          <a:p>
            <a:r>
              <a:rPr lang="en-US"/>
              <a:t>Open Spreadsheet</a:t>
            </a:r>
          </a:p>
          <a:p>
            <a:r>
              <a:rPr lang="en-US"/>
              <a:t>Update Spreadsheet</a:t>
            </a:r>
          </a:p>
          <a:p>
            <a:r>
              <a:rPr lang="en-US"/>
              <a:t>Close Spreadsheet</a:t>
            </a:r>
          </a:p>
          <a:p>
            <a:r>
              <a:rPr lang="en-US"/>
              <a:t>Release resources</a:t>
            </a:r>
          </a:p>
        </p:txBody>
      </p:sp>
      <p:pic>
        <p:nvPicPr>
          <p:cNvPr id="6151" name="Picture 7" descr="MCBD09771_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4419600"/>
            <a:ext cx="1801813" cy="1581150"/>
          </a:xfrm>
          <a:prstGeom prst="rect">
            <a:avLst/>
          </a:prstGeom>
          <a:noFill/>
        </p:spPr>
      </p:pic>
      <p:pic>
        <p:nvPicPr>
          <p:cNvPr id="6152" name="Picture 8" descr="MCj0155963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7200" y="4343400"/>
            <a:ext cx="2667000" cy="2035175"/>
          </a:xfrm>
          <a:prstGeom prst="rect">
            <a:avLst/>
          </a:prstGeom>
          <a:noFill/>
        </p:spPr>
      </p:pic>
      <p:pic>
        <p:nvPicPr>
          <p:cNvPr id="6159" name="Picture 15" descr="MPj0439356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4038600"/>
            <a:ext cx="2590800" cy="2590800"/>
          </a:xfrm>
          <a:prstGeom prst="rect">
            <a:avLst/>
          </a:prstGeom>
          <a:noFill/>
        </p:spPr>
      </p:pic>
      <p:pic>
        <p:nvPicPr>
          <p:cNvPr id="6160" name="Picture 16" descr="MPj0439343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67400" y="1295400"/>
            <a:ext cx="27432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Initialize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DEFINE VARIABLE chExcel AS COM-HANDLE NO-UNDO.</a:t>
            </a:r>
          </a:p>
          <a:p>
            <a:pPr>
              <a:buFontTx/>
              <a:buNone/>
            </a:pPr>
            <a:r>
              <a:rPr lang="en-US"/>
              <a:t>DEFINE VARIABLE chWorksheet AS COM-HANDLE NO-UNDO.</a:t>
            </a:r>
          </a:p>
          <a:p>
            <a:pPr>
              <a:buFontTx/>
              <a:buNone/>
            </a:pPr>
            <a:r>
              <a:rPr lang="en-US"/>
              <a:t>DEFINE VARIABLE chWorkbook AS COM-HANDLE NO-UNDO.</a:t>
            </a:r>
          </a:p>
          <a:p>
            <a:endParaRPr lang="en-US"/>
          </a:p>
          <a:p>
            <a:pPr>
              <a:buFontTx/>
              <a:buNone/>
            </a:pPr>
            <a:r>
              <a:rPr lang="en-US"/>
              <a:t>CREATE "excel.application" chExcel.</a:t>
            </a:r>
          </a:p>
          <a:p>
            <a:pPr>
              <a:buFontTx/>
              <a:buNone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Spreadsheet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45259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/* Open an Excel document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chExcel:Workbooks:Open("h:\excel\test1.xls").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chExcel:visible = true.</a:t>
            </a:r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/* Select a workbook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chWorkbook = chExcel:Workbooks(1).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/* Select a worksheet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chWorkbook:Worksheets(1):Activate.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	chWorksheet = chWorkbook:Worksheets(1).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800"/>
          </a:p>
          <a:p>
            <a:pPr>
              <a:lnSpc>
                <a:spcPct val="80000"/>
              </a:lnSpc>
            </a:pPr>
            <a:endParaRPr 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 Spreadsheet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/* Add data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ASSIGN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chWorksheet:Range("B1"):VALUE = "Value"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chWorksheet:Range("B2"):VALUE = 255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chWorksheet:Range("B3"):VALUE = 100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chWorksheet:Range("B4"):VALUE = 250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chWorksheet:Range("B5"):VALUE = 400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chWorksheet:Range("B6"):VALUE = 100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chWorksheet:Range("B7"):VALUE = 600.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 Spreadsheet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/* Change the cell's format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ASSIGN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en-US" sz="2400" dirty="0" err="1"/>
              <a:t>chWorksheet:Columns</a:t>
            </a:r>
            <a:r>
              <a:rPr lang="en-US" sz="2400" dirty="0"/>
              <a:t>("A:A"):</a:t>
            </a:r>
            <a:r>
              <a:rPr lang="en-US" sz="2400" dirty="0" err="1"/>
              <a:t>Font:ColorIndex</a:t>
            </a:r>
            <a:r>
              <a:rPr lang="en-US" sz="2400" dirty="0"/>
              <a:t> = 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en-US" sz="2400" dirty="0" err="1"/>
              <a:t>chWorksheet:Columns</a:t>
            </a:r>
            <a:r>
              <a:rPr lang="en-US" sz="2400" dirty="0"/>
              <a:t>("A:A"):</a:t>
            </a:r>
            <a:r>
              <a:rPr lang="en-US" sz="2400" dirty="0" err="1"/>
              <a:t>Font:Name</a:t>
            </a:r>
            <a:r>
              <a:rPr lang="en-US" sz="2400" dirty="0"/>
              <a:t> = "</a:t>
            </a:r>
            <a:r>
              <a:rPr lang="en-US" sz="2400" dirty="0" err="1"/>
              <a:t>Courrier</a:t>
            </a:r>
            <a:r>
              <a:rPr lang="en-US" sz="2400" dirty="0"/>
              <a:t> New"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en-US" sz="2400" dirty="0" err="1"/>
              <a:t>chWorksheet:Columns</a:t>
            </a:r>
            <a:r>
              <a:rPr lang="en-US" sz="2400" dirty="0"/>
              <a:t>("A:A"):</a:t>
            </a:r>
            <a:r>
              <a:rPr lang="en-US" sz="2400" dirty="0" err="1"/>
              <a:t>Font:Bold</a:t>
            </a:r>
            <a:r>
              <a:rPr lang="en-US" sz="2400" dirty="0"/>
              <a:t> = TRUE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en-US" sz="2400" dirty="0" err="1"/>
              <a:t>chWorksheet:Columns</a:t>
            </a:r>
            <a:r>
              <a:rPr lang="en-US" sz="2400" dirty="0"/>
              <a:t>("A:A"):</a:t>
            </a:r>
            <a:r>
              <a:rPr lang="en-US" sz="2400" dirty="0" err="1"/>
              <a:t>Font:Italic</a:t>
            </a:r>
            <a:r>
              <a:rPr lang="en-US" sz="2400" dirty="0"/>
              <a:t> = TRUE.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/* Set underline: </a:t>
            </a:r>
            <a:r>
              <a:rPr lang="en-US" sz="2400" dirty="0" err="1"/>
              <a:t>StyleSingle</a:t>
            </a:r>
            <a:r>
              <a:rPr lang="en-US" sz="2400" dirty="0"/>
              <a:t> = 2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 err="1"/>
              <a:t>chWorksheet:Columns</a:t>
            </a:r>
            <a:r>
              <a:rPr lang="en-US" sz="2400" dirty="0"/>
              <a:t>("A:A"):FONT:UNDERLINE = 2 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 Spreadsheet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/* Add a Formula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chWorksheet:Range("A8"):VALUE = "Total:".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chWorksheet:Range("B8"):Formula = "=SUM(B2:B7)“.</a:t>
            </a:r>
          </a:p>
          <a:p>
            <a:pPr>
              <a:lnSpc>
                <a:spcPct val="80000"/>
              </a:lnSpc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/* Set Cell's format to Number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chWorksheet:Range("B8"):NumberFormat = 0.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/* Set horizontal alignment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Right Alignment: -4152 / Left Alignment :-4131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chWorksheet:Range("B:B"):HorizontalAlignment = -4152.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/* Freeze Pane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chWorksheet:Range("A2"):SELECT.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chExcel:ActiveWindow:FreezePanes = TRUE.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 Spreadsheet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581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	/* Rename the worksheet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	chWorkSheet:NAME = "test".</a:t>
            </a: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	/* Modify the cell's format to Text */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	chWorksheet:Cells:NumberFormat = "@".</a:t>
            </a: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	/* Change the cell's color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	chWorksheet:Columns("A:A"):Interior:ColorIndex = 5.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Commands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/* Add a new worksheet as the last sheet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chWorksheet = chWorkbook:Worksheets(5).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chWorkbook:Worksheets:add(, chWorksheet). </a:t>
            </a:r>
          </a:p>
          <a:p>
            <a:pPr>
              <a:lnSpc>
                <a:spcPct val="80000"/>
              </a:lnSpc>
            </a:pPr>
            <a:endParaRPr 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/* Rename the worksheet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chWorkSheet:NAME = "test".</a:t>
            </a:r>
          </a:p>
          <a:p>
            <a:pPr>
              <a:lnSpc>
                <a:spcPct val="80000"/>
              </a:lnSpc>
            </a:pPr>
            <a:endParaRPr 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/* Modify the cell's format to Text */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chWorksheet:Cells:NumberFormat = "@".</a:t>
            </a:r>
          </a:p>
          <a:p>
            <a:pPr>
              <a:lnSpc>
                <a:spcPct val="80000"/>
              </a:lnSpc>
            </a:pPr>
            <a:endParaRPr 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/* Change the cell's color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chWorksheet:Columns("A:A"):Interior:ColorIndex = 5.</a:t>
            </a:r>
          </a:p>
          <a:p>
            <a:pPr>
              <a:lnSpc>
                <a:spcPct val="8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Calculating a Cell Reference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/* column dependant on week */</a:t>
            </a:r>
          </a:p>
          <a:p>
            <a:pPr>
              <a:buFontTx/>
              <a:buNone/>
            </a:pPr>
            <a:r>
              <a:rPr lang="en-US" sz="2800"/>
              <a:t>ndx = SUBSTRING("LMNOP",week,1) + "86".</a:t>
            </a:r>
          </a:p>
          <a:p>
            <a:pPr>
              <a:buFontTx/>
              <a:buNone/>
            </a:pPr>
            <a:r>
              <a:rPr lang="en-US" sz="2800"/>
              <a:t>chWorksheet:Range(ndx):VALUE = days_WIP_oh.</a:t>
            </a:r>
          </a:p>
          <a:p>
            <a:pPr>
              <a:buFontTx/>
              <a:buNone/>
            </a:pPr>
            <a:endParaRPr lang="en-US" sz="2800"/>
          </a:p>
          <a:p>
            <a:pPr>
              <a:buFontTx/>
              <a:buNone/>
            </a:pPr>
            <a:r>
              <a:rPr lang="en-US" sz="2800"/>
              <a:t>/* row dependant on iteration */</a:t>
            </a:r>
          </a:p>
          <a:p>
            <a:pPr>
              <a:buFontTx/>
              <a:buNone/>
            </a:pPr>
            <a:r>
              <a:rPr lang="en-US" sz="2800"/>
              <a:t>ndx = "B" + STRING(43 + cnt, "&gt;9").</a:t>
            </a:r>
          </a:p>
          <a:p>
            <a:pPr>
              <a:buFontTx/>
              <a:buNone/>
            </a:pPr>
            <a:r>
              <a:rPr lang="en-US" sz="2800"/>
              <a:t>chWorksheet:Range(ndx):VALUE = tcust.</a:t>
            </a:r>
          </a:p>
          <a:p>
            <a:endParaRPr 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Save and Close Spreadsheet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endParaRPr lang="en-US" sz="2800"/>
          </a:p>
          <a:p>
            <a:pPr>
              <a:buFontTx/>
              <a:buNone/>
            </a:pPr>
            <a:r>
              <a:rPr lang="en-US" sz="2800"/>
              <a:t>/* Save the new workbook without displaying alerts */</a:t>
            </a:r>
          </a:p>
          <a:p>
            <a:pPr>
              <a:buFontTx/>
              <a:buNone/>
            </a:pPr>
            <a:r>
              <a:rPr lang="en-US" sz="2800"/>
              <a:t>	chExcel:DisplayAlerts = FALSE.</a:t>
            </a:r>
          </a:p>
          <a:p>
            <a:pPr>
              <a:buFontTx/>
              <a:buNone/>
            </a:pPr>
            <a:r>
              <a:rPr lang="en-US" sz="2800"/>
              <a:t>	chWorkbook:Save().</a:t>
            </a:r>
          </a:p>
          <a:p>
            <a:pPr>
              <a:buFontTx/>
              <a:buNone/>
            </a:pPr>
            <a:r>
              <a:rPr lang="en-US" sz="2800"/>
              <a:t>	chWorkbook:SaveAs("h:\excel\test2.xls",43,,,,,).</a:t>
            </a:r>
          </a:p>
          <a:p>
            <a:endParaRPr lang="en-US" sz="2800"/>
          </a:p>
          <a:p>
            <a:pPr>
              <a:buFontTx/>
              <a:buNone/>
            </a:pPr>
            <a:r>
              <a:rPr lang="en-US" sz="2800"/>
              <a:t>/* Quit Excel */</a:t>
            </a:r>
          </a:p>
          <a:p>
            <a:pPr>
              <a:buFontTx/>
              <a:buNone/>
            </a:pPr>
            <a:r>
              <a:rPr lang="en-US" sz="2800"/>
              <a:t>	chExcel:quit().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Release Resources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/* Release Com-handles */</a:t>
            </a:r>
          </a:p>
          <a:p>
            <a:pPr>
              <a:buFontTx/>
              <a:buNone/>
            </a:pPr>
            <a:r>
              <a:rPr lang="en-US"/>
              <a:t>	RELEASE OBJECT chWorksheet.</a:t>
            </a:r>
          </a:p>
          <a:p>
            <a:pPr>
              <a:buFontTx/>
              <a:buNone/>
            </a:pPr>
            <a:r>
              <a:rPr lang="en-US"/>
              <a:t>	RELEASE OBJECT chWorkbook.</a:t>
            </a:r>
          </a:p>
          <a:p>
            <a:pPr>
              <a:buFontTx/>
              <a:buNone/>
            </a:pPr>
            <a:r>
              <a:rPr lang="en-US"/>
              <a:t>	RELEASE OBJECT chExcel.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 Command Syntax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8862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Open Excel</a:t>
            </a:r>
          </a:p>
          <a:p>
            <a:pPr>
              <a:lnSpc>
                <a:spcPct val="90000"/>
              </a:lnSpc>
            </a:pPr>
            <a:r>
              <a:rPr lang="en-US" sz="2800"/>
              <a:t>Record Macro</a:t>
            </a:r>
          </a:p>
          <a:p>
            <a:pPr>
              <a:lnSpc>
                <a:spcPct val="90000"/>
              </a:lnSpc>
            </a:pPr>
            <a:r>
              <a:rPr lang="en-US" sz="2800"/>
              <a:t>Open Progress client</a:t>
            </a:r>
          </a:p>
          <a:p>
            <a:pPr>
              <a:lnSpc>
                <a:spcPct val="90000"/>
              </a:lnSpc>
            </a:pPr>
            <a:r>
              <a:rPr lang="en-US" sz="2800"/>
              <a:t>Tools &gt;&gt; PRO*Tools</a:t>
            </a:r>
          </a:p>
          <a:p>
            <a:pPr>
              <a:lnSpc>
                <a:spcPct val="90000"/>
              </a:lnSpc>
            </a:pPr>
            <a:r>
              <a:rPr lang="en-US" sz="2800"/>
              <a:t>Com Viewer</a:t>
            </a:r>
          </a:p>
          <a:p>
            <a:pPr>
              <a:lnSpc>
                <a:spcPct val="90000"/>
              </a:lnSpc>
            </a:pPr>
            <a:r>
              <a:rPr lang="en-US" sz="2800"/>
              <a:t>File &gt;&gt; Open &gt;&gt; c:/Program Files/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Microsoft Office/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Office11/xl5en32.olb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1676400"/>
            <a:ext cx="4371975" cy="419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Let the User Choose the Spreadsheet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DEFINE VARIABLE sourcefile AS CHARACTER FORMAT "x(70)" NO-UNDO.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DEFINE VARIABLE labelfile AS CHARACTER FORMAT "x(70)" NO-UNDO.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DEFINE VARIABLE targetfile AS CHARACTER FORMAT "x(20)" VIEW-AS FILL-IN.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DEFINE VARIABLE OKpressed AS LOGICAL INITIAL TRUE.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DEFINE VARIABLE vahrfile AS CHARACTER FORMAT "x(70)" NO-UNDO.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Main: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REPEAT: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        SYSTEM-DIALOG GET-FILE vahrfile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                TITLE "Choose the VAHR file"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                MUST-EXIST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                USE-FILENAME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                UPDATE OKpressed.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                LEAVE Main.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END.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Demonstration/Examples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Weekly Reports</a:t>
            </a:r>
          </a:p>
          <a:p>
            <a:r>
              <a:rPr lang="en-US"/>
              <a:t>Hold Tags</a:t>
            </a:r>
          </a:p>
          <a:p>
            <a:r>
              <a:rPr lang="en-US"/>
              <a:t>Process Change Notices</a:t>
            </a:r>
          </a:p>
          <a:p>
            <a:r>
              <a:rPr lang="en-US"/>
              <a:t>Scrap Report by Reason</a:t>
            </a:r>
          </a:p>
          <a:p>
            <a:r>
              <a:rPr lang="en-US"/>
              <a:t>Weekly Report by Machine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Send File Via Email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Set objMessage = CreateObject("CDO.Message") 'Create the email object...</a:t>
            </a:r>
          </a:p>
          <a:p>
            <a:pPr>
              <a:lnSpc>
                <a:spcPct val="80000"/>
              </a:lnSpc>
            </a:pPr>
            <a:endParaRPr lang="en-US" sz="14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'Specify the email attributes...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objMessage.Subject = "Scrap Report"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objMessage.From = "cpollatz@cascade-cdc.com"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objMessage.To = "cpollatz@cascade-cdc.com; khysell@cascade-cdc.com"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objMessage.TextBody = "Automated Scrap Report"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objMessage.AddAttachment "c:\program files\eb2srv\batch\chart for phil.xls"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4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'Needed to send via a remote server...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objMessage.Configuration.Fields.Item("http://schemas.microsoft.com/cdo/configuration/sendusing") =2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objMessage.Configuration.Fields.Item("http://schemas.microsoft.com/cdo/configuration/smtpserer") = "exchange”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objMessage.Cnfiguration.Fields.Item("http://schemas.microsoft.com/cdo/configuration/smtpserverport") = 25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objMessage.Configuration.Fields.Update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4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'Sends the message...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/>
              <a:t>objMessage.Send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Scheduled Batch Job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"C:\Program Files\DLC91\bin\_progres.exe"  </a:t>
            </a:r>
          </a:p>
          <a:p>
            <a:pPr>
              <a:buFontTx/>
              <a:buNone/>
            </a:pPr>
            <a:r>
              <a:rPr lang="en-US" sz="2800"/>
              <a:t>-p "C:\Program Files\eb2srv\batch\excel-min2.p"  </a:t>
            </a:r>
          </a:p>
          <a:p>
            <a:pPr>
              <a:buFontTx/>
              <a:buNone/>
            </a:pPr>
            <a:r>
              <a:rPr lang="en-US" sz="2800"/>
              <a:t>-pf "c:\Program Files\eb2srv\eb2ms.pf"  </a:t>
            </a:r>
          </a:p>
          <a:p>
            <a:pPr>
              <a:buFontTx/>
              <a:buNone/>
            </a:pPr>
            <a:r>
              <a:rPr lang="en-US" sz="2800"/>
              <a:t>-c 500 -s 63 -D 50 -TM 31 -TB 31 -B 1000 </a:t>
            </a:r>
          </a:p>
          <a:p>
            <a:pPr>
              <a:buFontTx/>
              <a:buNone/>
            </a:pPr>
            <a:r>
              <a:rPr lang="en-US" sz="2800"/>
              <a:t>-yy 1920 -d mdy </a:t>
            </a:r>
          </a:p>
          <a:p>
            <a:endParaRPr lang="en-US" sz="2800"/>
          </a:p>
          <a:p>
            <a:pPr>
              <a:buFontTx/>
              <a:buNone/>
            </a:pPr>
            <a:r>
              <a:rPr lang="en-US" sz="2800"/>
              <a:t>"C:\Program Files\eb2srv\batch\mail-scrap.vbs"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Contact Information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7315200" cy="452596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Craig Pollatz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MIS Programmer/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		Manufacturing Systems Manager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Cascade Die Casting Group, Inc.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Group Services Office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7441 South Division Suite 1A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Grand Rapids, MI 49548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cpollatz@cascade-cdc.com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i="1"/>
              <a:t>Ph: (616) 281-1660 x110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590</Words>
  <Application>Microsoft Office PowerPoint</Application>
  <PresentationFormat>Apresentação na tela (4:3)</PresentationFormat>
  <Paragraphs>202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6" baseType="lpstr">
      <vt:lpstr>Arial</vt:lpstr>
      <vt:lpstr>Default Design</vt:lpstr>
      <vt:lpstr>Using Progress To Update  Excel Spreadsheets </vt:lpstr>
      <vt:lpstr>Who Am I?</vt:lpstr>
      <vt:lpstr>How many departments use spreadsheets for data reporting and storage???</vt:lpstr>
      <vt:lpstr>User Requests</vt:lpstr>
      <vt:lpstr>Problem</vt:lpstr>
      <vt:lpstr>Requirements</vt:lpstr>
      <vt:lpstr>Intermediate Solutions</vt:lpstr>
      <vt:lpstr>Main Parts</vt:lpstr>
      <vt:lpstr>Initialize</vt:lpstr>
      <vt:lpstr>Open Spreadsheet</vt:lpstr>
      <vt:lpstr>Update Spreadsheet</vt:lpstr>
      <vt:lpstr>Update Spreadsheet</vt:lpstr>
      <vt:lpstr>Update Spreadsheet</vt:lpstr>
      <vt:lpstr>Update Spreadsheet</vt:lpstr>
      <vt:lpstr>Other Commands</vt:lpstr>
      <vt:lpstr>Calculating a Cell Reference</vt:lpstr>
      <vt:lpstr>Save and Close Spreadsheet</vt:lpstr>
      <vt:lpstr>Release Resources</vt:lpstr>
      <vt:lpstr>Find Command Syntax</vt:lpstr>
      <vt:lpstr>Let the User Choose the Spreadsheet</vt:lpstr>
      <vt:lpstr>Demonstration/Examples</vt:lpstr>
      <vt:lpstr>Send File Via Email</vt:lpstr>
      <vt:lpstr>Scheduled Batch Job</vt:lpstr>
      <vt:lpstr>Contact Information</vt:lpstr>
    </vt:vector>
  </TitlesOfParts>
  <Company>Cascade Die Casting Group,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 Progress Update Your Spreadsheet</dc:title>
  <dc:creator>Information Services</dc:creator>
  <cp:lastModifiedBy>Fábio Coelho Lanza</cp:lastModifiedBy>
  <cp:revision>14</cp:revision>
  <dcterms:created xsi:type="dcterms:W3CDTF">2008-06-10T15:24:15Z</dcterms:created>
  <dcterms:modified xsi:type="dcterms:W3CDTF">2009-01-23T17:11:23Z</dcterms:modified>
</cp:coreProperties>
</file>